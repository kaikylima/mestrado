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73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4DEFD-C9AC-3E25-1F09-906991A7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6DBA7-C888-2FCF-71D7-9FB4CE58B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58033-69B9-D78C-61AF-34C392826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526D6-20C8-75DF-9E92-05BF7EE589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89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90D18"/>
          </a:solidFill>
          <a:ln w="12700">
            <a:solidFill>
              <a:srgbClr val="090D1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6615684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AA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Dark Silicon and the End of Multicore Scaling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0" cy="1325880"/>
          </a:xfrm>
          <a:prstGeom prst="line">
            <a:avLst/>
          </a:prstGeom>
          <a:noFill/>
          <a:ln w="12700">
            <a:solidFill>
              <a:srgbClr val="2030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452360" y="1234440"/>
            <a:ext cx="91440" cy="91440"/>
          </a:xfrm>
          <a:prstGeom prst="ellipse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001000" y="0"/>
            <a:ext cx="0" cy="1527048"/>
          </a:xfrm>
          <a:prstGeom prst="line">
            <a:avLst/>
          </a:prstGeom>
          <a:noFill/>
          <a:ln w="12700">
            <a:solidFill>
              <a:srgbClr val="2030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955280" y="1435608"/>
            <a:ext cx="91440" cy="91440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503920" y="0"/>
            <a:ext cx="0" cy="1728216"/>
          </a:xfrm>
          <a:prstGeom prst="line">
            <a:avLst/>
          </a:prstGeom>
          <a:noFill/>
          <a:ln w="12700">
            <a:solidFill>
              <a:srgbClr val="2030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458200" y="1636776"/>
            <a:ext cx="91440" cy="91440"/>
          </a:xfrm>
          <a:prstGeom prst="ellipse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006840" y="0"/>
            <a:ext cx="0" cy="1929384"/>
          </a:xfrm>
          <a:prstGeom prst="line">
            <a:avLst/>
          </a:prstGeom>
          <a:noFill/>
          <a:ln w="12700">
            <a:solidFill>
              <a:srgbClr val="2030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961120" y="1837944"/>
            <a:ext cx="91440" cy="91440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509760" y="0"/>
            <a:ext cx="0" cy="2130552"/>
          </a:xfrm>
          <a:prstGeom prst="line">
            <a:avLst/>
          </a:prstGeom>
          <a:noFill/>
          <a:ln w="12700">
            <a:solidFill>
              <a:srgbClr val="2030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464040" y="2039112"/>
            <a:ext cx="91440" cy="91440"/>
          </a:xfrm>
          <a:prstGeom prst="ellipse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012680" y="0"/>
            <a:ext cx="0" cy="2331720"/>
          </a:xfrm>
          <a:prstGeom prst="line">
            <a:avLst/>
          </a:prstGeom>
          <a:noFill/>
          <a:ln w="12700">
            <a:solidFill>
              <a:srgbClr val="2030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9966960" y="2240280"/>
            <a:ext cx="91440" cy="91440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515600" y="0"/>
            <a:ext cx="0" cy="2532888"/>
          </a:xfrm>
          <a:prstGeom prst="line">
            <a:avLst/>
          </a:prstGeom>
          <a:noFill/>
          <a:ln w="12700">
            <a:solidFill>
              <a:srgbClr val="2030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0469880" y="2441448"/>
            <a:ext cx="91440" cy="91440"/>
          </a:xfrm>
          <a:prstGeom prst="ellipse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10607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DARK SILICON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13232" y="177393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 o fim da escalabilidade multicore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298094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central: </a:t>
            </a:r>
            <a:r>
              <a:rPr lang="en-US" sz="2200" b="1" dirty="0" err="1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aumentar</a:t>
            </a:r>
            <a:r>
              <a:rPr lang="en-US" sz="22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 número de </a:t>
            </a:r>
            <a:r>
              <a:rPr lang="en-US" sz="2200" b="1" dirty="0" err="1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transistores</a:t>
            </a:r>
            <a:r>
              <a:rPr lang="en-US" sz="22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 cores </a:t>
            </a:r>
            <a:r>
              <a:rPr lang="en-US" sz="2200" b="1" dirty="0" err="1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ainda</a:t>
            </a:r>
            <a:r>
              <a:rPr lang="en-US" sz="22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significa dobrar desempenho?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543800" y="187452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0D1424"/>
          </a:solidFill>
          <a:ln w="16510">
            <a:solidFill>
              <a:srgbClr val="3441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08392" y="203911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063636" y="203911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418881" y="203911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774125" y="203911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129370" y="203911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484614" y="203911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9839858" y="203911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195103" y="203911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0550347" y="203911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0905592" y="203911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708392" y="2379726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8063636" y="2379726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8418881" y="2379726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8774125" y="2379726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129370" y="2379726"/>
            <a:ext cx="314096" cy="29946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9484614" y="2379726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9839858" y="2379726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10195103" y="2379726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10550347" y="2379726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10905592" y="2379726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7708392" y="2720340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8063636" y="2720340"/>
            <a:ext cx="314096" cy="29946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8418881" y="2720340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8774125" y="2720340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129370" y="2720340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9484614" y="2720340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9839858" y="2720340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10195103" y="2720340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10550347" y="2720340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0905592" y="2720340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7708392" y="3060954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8063636" y="3060954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8418881" y="3060954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8774125" y="3060954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9129370" y="3060954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9484614" y="3060954"/>
            <a:ext cx="314096" cy="29946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9839858" y="3060954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10195103" y="3060954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10550347" y="3060954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10905592" y="3060954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7708392" y="3401568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8063636" y="3401568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8418881" y="3401568"/>
            <a:ext cx="314096" cy="29946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8774125" y="3401568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9129370" y="3401568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9484614" y="3401568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9839858" y="3401568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10195103" y="3401568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10550347" y="3401568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10905592" y="3401568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7708392" y="374218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8063636" y="374218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8418881" y="374218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8774125" y="374218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9129370" y="374218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9484614" y="374218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9839858" y="3742182"/>
            <a:ext cx="314096" cy="29946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10195103" y="374218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Shape 77"/>
          <p:cNvSpPr/>
          <p:nvPr/>
        </p:nvSpPr>
        <p:spPr>
          <a:xfrm>
            <a:off x="10550347" y="3742182"/>
            <a:ext cx="314096" cy="29946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10905592" y="3742182"/>
            <a:ext cx="314096" cy="29946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7543800" y="4306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 50% escuro no cenário 8 nm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1920240" y="4572000"/>
            <a:ext cx="2331720" cy="292608"/>
          </a:xfrm>
          <a:prstGeom prst="roundRect">
            <a:avLst/>
          </a:prstGeom>
          <a:solidFill>
            <a:srgbClr val="47D7FF">
              <a:alpha val="20000"/>
            </a:srgbClr>
          </a:solidFill>
          <a:ln w="10160">
            <a:solidFill>
              <a:srgbClr val="47D7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1993392" y="463600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Arquitetura de Computadores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31520" y="58155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Evandro Barreto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7B0C3"/>
                </a:solidFill>
                <a:latin typeface="Arimo" pitchFamily="34" charset="0"/>
                <a:ea typeface="Arimo" pitchFamily="34" charset="-122"/>
              </a:rPr>
              <a:t>Kaiky Lima</a:t>
            </a:r>
            <a:endParaRPr lang="en-US" sz="1200" dirty="0"/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CONTEXTO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 que o multicore virou uma solução... e depois um problema?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148840" cy="2057400"/>
          </a:xfrm>
          <a:prstGeom prst="roundRect">
            <a:avLst/>
          </a:prstGeom>
          <a:solidFill>
            <a:srgbClr val="121A2D"/>
          </a:solidFill>
          <a:ln w="1143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73352"/>
            <a:ext cx="347472" cy="347472"/>
          </a:xfrm>
          <a:prstGeom prst="ellipse">
            <a:avLst/>
          </a:prstGeom>
          <a:solidFill>
            <a:srgbClr val="5A7DFF"/>
          </a:solidFill>
          <a:ln w="12700">
            <a:solidFill>
              <a:srgbClr val="5A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Lei de Moore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7157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mais transistores por geração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98648" y="2505456"/>
            <a:ext cx="402336" cy="0"/>
          </a:xfrm>
          <a:prstGeom prst="line">
            <a:avLst/>
          </a:prstGeom>
          <a:noFill/>
          <a:ln w="16510">
            <a:solidFill>
              <a:srgbClr val="61708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2148840" cy="2057400"/>
          </a:xfrm>
          <a:prstGeom prst="roundRect">
            <a:avLst/>
          </a:prstGeom>
          <a:solidFill>
            <a:srgbClr val="121A2D"/>
          </a:solidFill>
          <a:ln w="1143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566160" y="1673352"/>
            <a:ext cx="347472" cy="347472"/>
          </a:xfrm>
          <a:prstGeom prst="ellipse">
            <a:avLst/>
          </a:prstGeom>
          <a:solidFill>
            <a:srgbClr val="58D68D"/>
          </a:solidFill>
          <a:ln w="12700">
            <a:solidFill>
              <a:srgbClr val="58D68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566160" y="173736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93592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Dennard scaling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27157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menor V e potência por transistor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41848" y="2505456"/>
            <a:ext cx="402336" cy="0"/>
          </a:xfrm>
          <a:prstGeom prst="line">
            <a:avLst/>
          </a:prstGeom>
          <a:noFill/>
          <a:ln w="16510">
            <a:solidFill>
              <a:srgbClr val="61708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2148840" cy="2057400"/>
          </a:xfrm>
          <a:prstGeom prst="roundRect">
            <a:avLst/>
          </a:prstGeom>
          <a:solidFill>
            <a:srgbClr val="121A2D"/>
          </a:solidFill>
          <a:ln w="1143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309360" y="1673352"/>
            <a:ext cx="347472" cy="347472"/>
          </a:xfrm>
          <a:prstGeom prst="ellipse">
            <a:avLst/>
          </a:prstGeom>
          <a:solidFill>
            <a:srgbClr val="FF855E"/>
          </a:solidFill>
          <a:ln w="12700">
            <a:solidFill>
              <a:srgbClr val="FF8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6792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~2005: power wall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6792" y="27157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frequência deixa de escalar como antes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85048" y="2505456"/>
            <a:ext cx="402336" cy="0"/>
          </a:xfrm>
          <a:prstGeom prst="line">
            <a:avLst/>
          </a:prstGeom>
          <a:noFill/>
          <a:ln w="16510">
            <a:solidFill>
              <a:srgbClr val="61708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15400" y="1508760"/>
            <a:ext cx="2148840" cy="2057400"/>
          </a:xfrm>
          <a:prstGeom prst="roundRect">
            <a:avLst/>
          </a:prstGeom>
          <a:solidFill>
            <a:srgbClr val="121A2D"/>
          </a:solidFill>
          <a:ln w="1143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052560" y="1673352"/>
            <a:ext cx="347472" cy="347472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052560" y="173736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79992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Multicore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79992" y="27157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usar os transistores extras em mais núcleos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280160" y="4160520"/>
            <a:ext cx="9646920" cy="1307592"/>
          </a:xfrm>
          <a:prstGeom prst="roundRect">
            <a:avLst/>
          </a:prstGeom>
          <a:solidFill>
            <a:srgbClr val="111829"/>
          </a:solidFill>
          <a:ln w="10160">
            <a:solidFill>
              <a:srgbClr val="2936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536192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65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ponto do artigo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71800" y="431596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área do chip continua crescendo, mas o orçamento de potência não. Logo, nem todos os transistores podem ficar ativos ao mesmo tempo.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971800" y="495604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Esse limite de utilização é o que o artigo populariza como dark silicon.</a:t>
            </a:r>
            <a:endParaRPr lang="en-US" sz="12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METODOLOGIA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Qual é a proposta do artigo?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20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Limites do escalonamento </a:t>
            </a:r>
            <a:r>
              <a:rPr lang="pt-BR" sz="2000" b="1" dirty="0" err="1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multicore</a:t>
            </a:r>
            <a:r>
              <a:rPr lang="pt-BR" sz="20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 o surgimento do </a:t>
            </a:r>
            <a:r>
              <a:rPr lang="pt-BR" sz="2000" b="1" dirty="0" err="1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Dark</a:t>
            </a:r>
            <a:r>
              <a:rPr lang="pt-BR" sz="20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Silicon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063240" cy="2423160"/>
          </a:xfrm>
          <a:prstGeom prst="roundRect">
            <a:avLst/>
          </a:prstGeom>
          <a:solidFill>
            <a:srgbClr val="121A2D"/>
          </a:solidFill>
          <a:ln w="15240">
            <a:solidFill>
              <a:srgbClr val="5A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7D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19072" y="239572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Device scaling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41832" y="2980944"/>
            <a:ext cx="73152" cy="73152"/>
          </a:xfrm>
          <a:prstGeom prst="ellipse">
            <a:avLst/>
          </a:prstGeom>
          <a:solidFill>
            <a:srgbClr val="5A7DFF"/>
          </a:solidFill>
          <a:ln w="12700">
            <a:solidFill>
              <a:srgbClr val="5A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97280" y="288950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45 nm -&gt; 8 nm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41832" y="3447288"/>
            <a:ext cx="73152" cy="73152"/>
          </a:xfrm>
          <a:prstGeom prst="ellipse">
            <a:avLst/>
          </a:prstGeom>
          <a:solidFill>
            <a:srgbClr val="5A7DFF"/>
          </a:solidFill>
          <a:ln w="12700">
            <a:solidFill>
              <a:srgbClr val="5A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97280" y="335584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área, frequência e potência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41832" y="3913632"/>
            <a:ext cx="73152" cy="73152"/>
          </a:xfrm>
          <a:prstGeom prst="ellipse">
            <a:avLst/>
          </a:prstGeom>
          <a:solidFill>
            <a:srgbClr val="5A7DFF"/>
          </a:solidFill>
          <a:ln w="12700">
            <a:solidFill>
              <a:srgbClr val="5A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97280" y="382219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ITRS + cenário conservador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867912" y="3419856"/>
            <a:ext cx="566928" cy="0"/>
          </a:xfrm>
          <a:prstGeom prst="line">
            <a:avLst/>
          </a:prstGeom>
          <a:noFill/>
          <a:ln w="17780">
            <a:solidFill>
              <a:srgbClr val="5161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53712" y="2194560"/>
            <a:ext cx="3063240" cy="2423160"/>
          </a:xfrm>
          <a:prstGeom prst="roundRect">
            <a:avLst/>
          </a:prstGeom>
          <a:solidFill>
            <a:srgbClr val="121A2D"/>
          </a:solidFill>
          <a:ln w="1524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36592" y="2359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65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41264" y="239572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Core scaling 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64024" y="2980944"/>
            <a:ext cx="73152" cy="73152"/>
          </a:xfrm>
          <a:prstGeom prst="ellipse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19472" y="288950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dados de 20 processadores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764024" y="3447288"/>
            <a:ext cx="73152" cy="73152"/>
          </a:xfrm>
          <a:prstGeom prst="ellipse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19472" y="335584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fronteiras de Pareto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4764024" y="3913632"/>
            <a:ext cx="73152" cy="73152"/>
          </a:xfrm>
          <a:prstGeom prst="ellipse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19472" y="382219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área/desempenho e potência/desempenho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690104" y="3419856"/>
            <a:ext cx="566928" cy="0"/>
          </a:xfrm>
          <a:prstGeom prst="line">
            <a:avLst/>
          </a:prstGeom>
          <a:noFill/>
          <a:ln w="17780">
            <a:solidFill>
              <a:srgbClr val="5161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366760" y="2194560"/>
            <a:ext cx="3063240" cy="2423160"/>
          </a:xfrm>
          <a:prstGeom prst="roundRect">
            <a:avLst/>
          </a:prstGeom>
          <a:solidFill>
            <a:srgbClr val="121A2D"/>
          </a:solidFill>
          <a:ln w="1524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549640" y="2359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CmpM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54312" y="2395728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Multicore scaling 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77072" y="2980944"/>
            <a:ext cx="73152" cy="73152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732520" y="2889504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CPU-like e GPU-like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8577072" y="3447288"/>
            <a:ext cx="73152" cy="73152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732520" y="335584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topologias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8577072" y="3913632"/>
            <a:ext cx="73152" cy="73152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732520" y="382219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PARSEC + paralelismo + memória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3273552" y="5074920"/>
            <a:ext cx="5632704" cy="704088"/>
          </a:xfrm>
          <a:prstGeom prst="roundRect">
            <a:avLst/>
          </a:prstGeom>
          <a:solidFill>
            <a:srgbClr val="18233A"/>
          </a:solidFill>
          <a:ln w="10160">
            <a:solidFill>
              <a:srgbClr val="3444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493008" y="5294376"/>
            <a:ext cx="5212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Busca exaustiva -&gt; melhor speedup possível sob limites de área, potência e paralelismo</a:t>
            </a:r>
            <a:endParaRPr lang="en-US" sz="14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3D31-DAFF-7318-9909-EE52145C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0">
            <a:extLst>
              <a:ext uri="{FF2B5EF4-FFF2-40B4-BE49-F238E27FC236}">
                <a16:creationId xmlns:a16="http://schemas.microsoft.com/office/drawing/2014/main" id="{88C2B52D-AAD4-FA29-B692-0A9D210E64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C2180EED-28DC-055B-E80A-B5923EE55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791" y="971337"/>
            <a:ext cx="7826418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31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CONCEITO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Dark silicon: transistores disponíveis, mas não simultaneamente utilizáveis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0D1424"/>
          </a:solidFill>
          <a:ln w="16510">
            <a:solidFill>
              <a:srgbClr val="3441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87552" y="173736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29080" y="173736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670609" y="173736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012137" y="173736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353666" y="173736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695194" y="173736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036722" y="173736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378251" y="1737360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719779" y="173736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061308" y="173736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987552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329080" y="2062734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670609" y="2062734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012137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353666" y="2062734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695194" y="2062734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036722" y="2062734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378251" y="2062734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719779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061308" y="2062734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87552" y="2388108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329080" y="2388108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670609" y="2388108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012137" y="2388108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353666" y="2388108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2695194" y="2388108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036722" y="2388108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3378251" y="2388108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719779" y="2388108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061308" y="2388108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87552" y="2713482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1329080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1670609" y="2713482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2012137" y="2713482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2353666" y="2713482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2695194" y="2713482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3036722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3378251" y="2713482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3719779" y="2713482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4061308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87552" y="3038856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329080" y="3038856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1670609" y="3038856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2012137" y="3038856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2353666" y="3038856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2695194" y="3038856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3036722" y="3038856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3378251" y="3038856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3719779" y="3038856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4061308" y="3038856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987552" y="336423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1329080" y="336423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1670609" y="336423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2012137" y="336423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2353666" y="336423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2695194" y="336423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036722" y="3364230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3378251" y="336423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3719779" y="336423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4061308" y="3364230"/>
            <a:ext cx="300380" cy="284226"/>
          </a:xfrm>
          <a:prstGeom prst="rect">
            <a:avLst/>
          </a:prstGeom>
          <a:solidFill>
            <a:srgbClr val="47D7FF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822960" y="391363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22 nm: ~21% escuro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4800600" y="157276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0D1424"/>
          </a:solidFill>
          <a:ln w="16510">
            <a:solidFill>
              <a:srgbClr val="34415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4965192" y="173736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5306720" y="173736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5648249" y="173736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5989777" y="173736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6331306" y="173736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6672834" y="173736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7014362" y="173736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7355891" y="173736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7697419" y="173736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8038948" y="173736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4965192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5306720" y="2062734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Shape 77"/>
          <p:cNvSpPr/>
          <p:nvPr/>
        </p:nvSpPr>
        <p:spPr>
          <a:xfrm>
            <a:off x="5648249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5989777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6331306" y="2062734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Shape 80"/>
          <p:cNvSpPr/>
          <p:nvPr/>
        </p:nvSpPr>
        <p:spPr>
          <a:xfrm>
            <a:off x="6672834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Shape 81"/>
          <p:cNvSpPr/>
          <p:nvPr/>
        </p:nvSpPr>
        <p:spPr>
          <a:xfrm>
            <a:off x="7014362" y="2062734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Shape 82"/>
          <p:cNvSpPr/>
          <p:nvPr/>
        </p:nvSpPr>
        <p:spPr>
          <a:xfrm>
            <a:off x="7355891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Shape 83"/>
          <p:cNvSpPr/>
          <p:nvPr/>
        </p:nvSpPr>
        <p:spPr>
          <a:xfrm>
            <a:off x="7697419" y="2062734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8038948" y="2062734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4965192" y="2388108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Shape 86"/>
          <p:cNvSpPr/>
          <p:nvPr/>
        </p:nvSpPr>
        <p:spPr>
          <a:xfrm>
            <a:off x="5306720" y="2388108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Shape 87"/>
          <p:cNvSpPr/>
          <p:nvPr/>
        </p:nvSpPr>
        <p:spPr>
          <a:xfrm>
            <a:off x="5648249" y="2388108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Shape 88"/>
          <p:cNvSpPr/>
          <p:nvPr/>
        </p:nvSpPr>
        <p:spPr>
          <a:xfrm>
            <a:off x="5989777" y="2388108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6331306" y="2388108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6672834" y="2388108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7014362" y="2388108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Shape 92"/>
          <p:cNvSpPr/>
          <p:nvPr/>
        </p:nvSpPr>
        <p:spPr>
          <a:xfrm>
            <a:off x="7355891" y="2388108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5" name="Shape 93"/>
          <p:cNvSpPr/>
          <p:nvPr/>
        </p:nvSpPr>
        <p:spPr>
          <a:xfrm>
            <a:off x="7697419" y="2388108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Shape 94"/>
          <p:cNvSpPr/>
          <p:nvPr/>
        </p:nvSpPr>
        <p:spPr>
          <a:xfrm>
            <a:off x="8038948" y="2388108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5"/>
          <p:cNvSpPr/>
          <p:nvPr/>
        </p:nvSpPr>
        <p:spPr>
          <a:xfrm>
            <a:off x="4965192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8" name="Shape 96"/>
          <p:cNvSpPr/>
          <p:nvPr/>
        </p:nvSpPr>
        <p:spPr>
          <a:xfrm>
            <a:off x="5306720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5648249" y="2713482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Shape 98"/>
          <p:cNvSpPr/>
          <p:nvPr/>
        </p:nvSpPr>
        <p:spPr>
          <a:xfrm>
            <a:off x="5989777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1" name="Shape 99"/>
          <p:cNvSpPr/>
          <p:nvPr/>
        </p:nvSpPr>
        <p:spPr>
          <a:xfrm>
            <a:off x="6331306" y="2713482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2" name="Shape 100"/>
          <p:cNvSpPr/>
          <p:nvPr/>
        </p:nvSpPr>
        <p:spPr>
          <a:xfrm>
            <a:off x="6672834" y="2713482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3" name="Shape 101"/>
          <p:cNvSpPr/>
          <p:nvPr/>
        </p:nvSpPr>
        <p:spPr>
          <a:xfrm>
            <a:off x="7014362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4" name="Shape 102"/>
          <p:cNvSpPr/>
          <p:nvPr/>
        </p:nvSpPr>
        <p:spPr>
          <a:xfrm>
            <a:off x="7355891" y="2713482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5" name="Shape 103"/>
          <p:cNvSpPr/>
          <p:nvPr/>
        </p:nvSpPr>
        <p:spPr>
          <a:xfrm>
            <a:off x="7697419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Shape 104"/>
          <p:cNvSpPr/>
          <p:nvPr/>
        </p:nvSpPr>
        <p:spPr>
          <a:xfrm>
            <a:off x="8038948" y="2713482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7" name="Shape 105"/>
          <p:cNvSpPr/>
          <p:nvPr/>
        </p:nvSpPr>
        <p:spPr>
          <a:xfrm>
            <a:off x="4965192" y="3038856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Shape 106"/>
          <p:cNvSpPr/>
          <p:nvPr/>
        </p:nvSpPr>
        <p:spPr>
          <a:xfrm>
            <a:off x="5306720" y="3038856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9" name="Shape 107"/>
          <p:cNvSpPr/>
          <p:nvPr/>
        </p:nvSpPr>
        <p:spPr>
          <a:xfrm>
            <a:off x="5648249" y="3038856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5989777" y="3038856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6331306" y="3038856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2" name="Shape 110"/>
          <p:cNvSpPr/>
          <p:nvPr/>
        </p:nvSpPr>
        <p:spPr>
          <a:xfrm>
            <a:off x="6672834" y="3038856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3" name="Shape 111"/>
          <p:cNvSpPr/>
          <p:nvPr/>
        </p:nvSpPr>
        <p:spPr>
          <a:xfrm>
            <a:off x="7014362" y="3038856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4" name="Shape 112"/>
          <p:cNvSpPr/>
          <p:nvPr/>
        </p:nvSpPr>
        <p:spPr>
          <a:xfrm>
            <a:off x="7355891" y="3038856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5" name="Shape 113"/>
          <p:cNvSpPr/>
          <p:nvPr/>
        </p:nvSpPr>
        <p:spPr>
          <a:xfrm>
            <a:off x="7697419" y="3038856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6" name="Shape 114"/>
          <p:cNvSpPr/>
          <p:nvPr/>
        </p:nvSpPr>
        <p:spPr>
          <a:xfrm>
            <a:off x="8038948" y="3038856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7" name="Shape 115"/>
          <p:cNvSpPr/>
          <p:nvPr/>
        </p:nvSpPr>
        <p:spPr>
          <a:xfrm>
            <a:off x="4965192" y="336423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8" name="Shape 116"/>
          <p:cNvSpPr/>
          <p:nvPr/>
        </p:nvSpPr>
        <p:spPr>
          <a:xfrm>
            <a:off x="5306720" y="336423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9" name="Shape 117"/>
          <p:cNvSpPr/>
          <p:nvPr/>
        </p:nvSpPr>
        <p:spPr>
          <a:xfrm>
            <a:off x="5648249" y="336423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0" name="Shape 118"/>
          <p:cNvSpPr/>
          <p:nvPr/>
        </p:nvSpPr>
        <p:spPr>
          <a:xfrm>
            <a:off x="5989777" y="336423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1" name="Shape 119"/>
          <p:cNvSpPr/>
          <p:nvPr/>
        </p:nvSpPr>
        <p:spPr>
          <a:xfrm>
            <a:off x="6331306" y="336423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2" name="Shape 120"/>
          <p:cNvSpPr/>
          <p:nvPr/>
        </p:nvSpPr>
        <p:spPr>
          <a:xfrm>
            <a:off x="6672834" y="336423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3" name="Shape 121"/>
          <p:cNvSpPr/>
          <p:nvPr/>
        </p:nvSpPr>
        <p:spPr>
          <a:xfrm>
            <a:off x="7014362" y="3364230"/>
            <a:ext cx="300380" cy="284226"/>
          </a:xfrm>
          <a:prstGeom prst="rect">
            <a:avLst/>
          </a:prstGeom>
          <a:solidFill>
            <a:srgbClr val="FFB657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4" name="Shape 122"/>
          <p:cNvSpPr/>
          <p:nvPr/>
        </p:nvSpPr>
        <p:spPr>
          <a:xfrm>
            <a:off x="7355891" y="336423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5" name="Shape 123"/>
          <p:cNvSpPr/>
          <p:nvPr/>
        </p:nvSpPr>
        <p:spPr>
          <a:xfrm>
            <a:off x="7697419" y="3364230"/>
            <a:ext cx="300380" cy="284226"/>
          </a:xfrm>
          <a:prstGeom prst="rect">
            <a:avLst/>
          </a:prstGeom>
          <a:solidFill>
            <a:srgbClr val="FF855E"/>
          </a:solidFill>
          <a:ln w="3810">
            <a:solidFill>
              <a:srgbClr val="101A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6" name="Shape 124"/>
          <p:cNvSpPr/>
          <p:nvPr/>
        </p:nvSpPr>
        <p:spPr>
          <a:xfrm>
            <a:off x="8038948" y="3364230"/>
            <a:ext cx="300380" cy="284226"/>
          </a:xfrm>
          <a:prstGeom prst="rect">
            <a:avLst/>
          </a:prstGeom>
          <a:solidFill>
            <a:srgbClr val="263047">
              <a:alpha val="90000"/>
            </a:srgbClr>
          </a:solidFill>
          <a:ln w="3810">
            <a:solidFill>
              <a:srgbClr val="303B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7" name="Text 125"/>
          <p:cNvSpPr/>
          <p:nvPr/>
        </p:nvSpPr>
        <p:spPr>
          <a:xfrm>
            <a:off x="4800600" y="391363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 nm: &gt;50% escuro</a:t>
            </a:r>
            <a:endParaRPr lang="en-US" sz="1250" dirty="0"/>
          </a:p>
        </p:txBody>
      </p:sp>
      <p:sp>
        <p:nvSpPr>
          <p:cNvPr id="128" name="Shape 126"/>
          <p:cNvSpPr/>
          <p:nvPr/>
        </p:nvSpPr>
        <p:spPr>
          <a:xfrm>
            <a:off x="8887968" y="1572768"/>
            <a:ext cx="2514600" cy="2240280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9" name="Text 127"/>
          <p:cNvSpPr/>
          <p:nvPr/>
        </p:nvSpPr>
        <p:spPr>
          <a:xfrm>
            <a:off x="9098280" y="18105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65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 quê?</a:t>
            </a:r>
            <a:endParaRPr lang="en-US" sz="1700" dirty="0"/>
          </a:p>
        </p:txBody>
      </p:sp>
      <p:sp>
        <p:nvSpPr>
          <p:cNvPr id="130" name="Shape 128"/>
          <p:cNvSpPr/>
          <p:nvPr/>
        </p:nvSpPr>
        <p:spPr>
          <a:xfrm>
            <a:off x="9107424" y="2386584"/>
            <a:ext cx="82296" cy="82296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1" name="Text 129"/>
          <p:cNvSpPr/>
          <p:nvPr/>
        </p:nvSpPr>
        <p:spPr>
          <a:xfrm>
            <a:off x="9272016" y="2286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tensão não cai na mesma proporção</a:t>
            </a:r>
            <a:endParaRPr lang="en-US" sz="1120" dirty="0"/>
          </a:p>
        </p:txBody>
      </p:sp>
      <p:sp>
        <p:nvSpPr>
          <p:cNvPr id="132" name="Shape 130"/>
          <p:cNvSpPr/>
          <p:nvPr/>
        </p:nvSpPr>
        <p:spPr>
          <a:xfrm>
            <a:off x="9107424" y="2752344"/>
            <a:ext cx="82296" cy="82296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3" name="Text 131"/>
          <p:cNvSpPr/>
          <p:nvPr/>
        </p:nvSpPr>
        <p:spPr>
          <a:xfrm>
            <a:off x="9272016" y="2651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densidade de potência aumenta</a:t>
            </a:r>
            <a:endParaRPr lang="en-US" sz="1120" dirty="0"/>
          </a:p>
        </p:txBody>
      </p:sp>
      <p:sp>
        <p:nvSpPr>
          <p:cNvPr id="134" name="Shape 132"/>
          <p:cNvSpPr/>
          <p:nvPr/>
        </p:nvSpPr>
        <p:spPr>
          <a:xfrm>
            <a:off x="9107424" y="3118104"/>
            <a:ext cx="82296" cy="82296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5" name="Text 133"/>
          <p:cNvSpPr/>
          <p:nvPr/>
        </p:nvSpPr>
        <p:spPr>
          <a:xfrm>
            <a:off x="9272016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limite térmico e de TDP</a:t>
            </a:r>
            <a:endParaRPr lang="en-US" sz="1120" dirty="0"/>
          </a:p>
        </p:txBody>
      </p:sp>
      <p:sp>
        <p:nvSpPr>
          <p:cNvPr id="136" name="Shape 134"/>
          <p:cNvSpPr/>
          <p:nvPr/>
        </p:nvSpPr>
        <p:spPr>
          <a:xfrm>
            <a:off x="9107424" y="3483864"/>
            <a:ext cx="82296" cy="82296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7" name="Text 135"/>
          <p:cNvSpPr/>
          <p:nvPr/>
        </p:nvSpPr>
        <p:spPr>
          <a:xfrm>
            <a:off x="9272016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paralelismo da aplicação é finito</a:t>
            </a:r>
            <a:endParaRPr lang="en-US" sz="1120" dirty="0"/>
          </a:p>
        </p:txBody>
      </p:sp>
      <p:sp>
        <p:nvSpPr>
          <p:cNvPr id="138" name="Shape 136"/>
          <p:cNvSpPr/>
          <p:nvPr/>
        </p:nvSpPr>
        <p:spPr>
          <a:xfrm>
            <a:off x="1143000" y="4443984"/>
            <a:ext cx="9921240" cy="950976"/>
          </a:xfrm>
          <a:prstGeom prst="roundRect">
            <a:avLst/>
          </a:prstGeom>
          <a:solidFill>
            <a:srgbClr val="101827"/>
          </a:solidFill>
          <a:ln w="10160">
            <a:solidFill>
              <a:srgbClr val="2B385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9" name="Text 137"/>
          <p:cNvSpPr/>
          <p:nvPr/>
        </p:nvSpPr>
        <p:spPr>
          <a:xfrm>
            <a:off x="1408176" y="464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Mais área ≠ mais desempenho</a:t>
            </a:r>
            <a:endParaRPr lang="en-US" sz="1700" dirty="0"/>
          </a:p>
        </p:txBody>
      </p:sp>
      <p:sp>
        <p:nvSpPr>
          <p:cNvPr id="140" name="Text 138"/>
          <p:cNvSpPr/>
          <p:nvPr/>
        </p:nvSpPr>
        <p:spPr>
          <a:xfrm>
            <a:off x="4211498" y="4652603"/>
            <a:ext cx="6729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recurso escasso deixa de ser “quantos transistores cabem” e passa a ser “quantos podem ser energizados com eficiência”.</a:t>
            </a:r>
            <a:endParaRPr lang="en-US" sz="1520" dirty="0"/>
          </a:p>
        </p:txBody>
      </p:sp>
      <p:sp>
        <p:nvSpPr>
          <p:cNvPr id="1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PRINCIPAIS ACHADOS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Resultados: o limite é de potência, não de contagem de núcleos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Speedup acumulado em cinco gerações (referência: 45 nm -&gt; 8 nm)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Ideal: dobrar por geração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2788920" y="1691640"/>
            <a:ext cx="5029200" cy="347472"/>
          </a:xfrm>
          <a:prstGeom prst="roundRect">
            <a:avLst/>
          </a:prstGeom>
          <a:solidFill>
            <a:srgbClr val="202A40"/>
          </a:solidFill>
          <a:ln w="12700">
            <a:solidFill>
              <a:srgbClr val="202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88920" y="1691640"/>
            <a:ext cx="5029200" cy="347472"/>
          </a:xfrm>
          <a:prstGeom prst="roundRect">
            <a:avLst/>
          </a:prstGeom>
          <a:solidFill>
            <a:srgbClr val="5A7DFF"/>
          </a:solidFill>
          <a:ln w="12700">
            <a:solidFill>
              <a:srgbClr val="5A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936992" y="16824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A7D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32x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ITRS + workloads reais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2788920" y="2514600"/>
            <a:ext cx="5029200" cy="347472"/>
          </a:xfrm>
          <a:prstGeom prst="roundRect">
            <a:avLst/>
          </a:prstGeom>
          <a:solidFill>
            <a:srgbClr val="202A40"/>
          </a:solidFill>
          <a:ln w="12700">
            <a:solidFill>
              <a:srgbClr val="202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88920" y="2514600"/>
            <a:ext cx="1241584" cy="347472"/>
          </a:xfrm>
          <a:prstGeom prst="roundRect">
            <a:avLst/>
          </a:prstGeom>
          <a:solidFill>
            <a:srgbClr val="FFB657"/>
          </a:solidFill>
          <a:ln w="12700">
            <a:solidFill>
              <a:srgbClr val="FFB6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936992" y="25054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B65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7.9x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Cenário conservador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2788920" y="3337560"/>
            <a:ext cx="5029200" cy="347472"/>
          </a:xfrm>
          <a:prstGeom prst="roundRect">
            <a:avLst/>
          </a:prstGeom>
          <a:solidFill>
            <a:srgbClr val="202A40"/>
          </a:solidFill>
          <a:ln w="12700">
            <a:solidFill>
              <a:srgbClr val="202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2788920" y="3337560"/>
            <a:ext cx="581501" cy="347472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936992" y="3328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6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3.7x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245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32x esperado vs 7,9x projetado no cenário ITRS para aplicações PARSEC.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8823960" y="1389888"/>
            <a:ext cx="2423160" cy="950976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951976" y="1508760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B65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7,9x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951976" y="1920240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speedup médio ITRS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3960" y="2578608"/>
            <a:ext cx="2423160" cy="950976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Text 20"/>
          <p:cNvSpPr/>
          <p:nvPr/>
        </p:nvSpPr>
        <p:spPr>
          <a:xfrm>
            <a:off x="8823960" y="2697480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16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442 cores → ideal </a:t>
            </a:r>
          </a:p>
          <a:p>
            <a:pPr algn="ctr"/>
            <a:r>
              <a:rPr lang="pt-BR" sz="16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35 cores → ~90% do ganho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51976" y="3108960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núcleos CPU típicos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23960" y="3767328"/>
            <a:ext cx="2423160" cy="950976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951976" y="3886200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855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 50%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951976" y="4297680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dark silicon em 8 nm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901184"/>
            <a:ext cx="7635240" cy="704088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60120" y="511149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Conclusão dos autores: CPU-like e GPU-like, sozinhos, não mantêm a trajetória de desempenho da Lei de Moore.</a:t>
            </a:r>
            <a:endParaRPr lang="en-US" sz="142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RELEVÂNCIA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Impacto: mudou a pergunta de “quantos cores?” para “qual transistor vale a pena ligar?”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3401568" cy="3310128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05256" y="1719072"/>
            <a:ext cx="457200" cy="457200"/>
          </a:xfrm>
          <a:prstGeom prst="ellipse">
            <a:avLst/>
          </a:prstGeom>
          <a:solidFill>
            <a:srgbClr val="FF855E"/>
          </a:solidFill>
          <a:ln w="12700">
            <a:solidFill>
              <a:srgbClr val="FF8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05256" y="18379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5256" y="2395728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Potência vira restrição de 1ª classe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5256" y="3255264"/>
            <a:ext cx="28986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artigo separa área e potência; ter espaço no die não significa ter orçamento energético.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98848" y="1463040"/>
            <a:ext cx="3401568" cy="3310128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718304" y="1719072"/>
            <a:ext cx="457200" cy="457200"/>
          </a:xfrm>
          <a:prstGeom prst="ellipse">
            <a:avLst/>
          </a:prstGeom>
          <a:solidFill>
            <a:srgbClr val="47D7FF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18304" y="18379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18304" y="2395728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Multicore homogêneo deixa de ser estratégia suficiente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8304" y="3255264"/>
            <a:ext cx="28986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Adicionar cores rapidamente esbarra em TDP, paralelismo e memória.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311896" y="1463040"/>
            <a:ext cx="3401568" cy="3310128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531352" y="1719072"/>
            <a:ext cx="457200" cy="457200"/>
          </a:xfrm>
          <a:prstGeom prst="ellipse">
            <a:avLst/>
          </a:prstGeom>
          <a:solidFill>
            <a:srgbClr val="58D68D"/>
          </a:solidFill>
          <a:ln w="12700">
            <a:solidFill>
              <a:srgbClr val="58D68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531352" y="18379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31352" y="2395728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Especialização ganha valor arquitetural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31352" y="3255264"/>
            <a:ext cx="28986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Heterogeneidade, aceleradores, power gating e hardware específico passam a explorar o “silício escuro”.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ATUALIDADE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 resultados ainda são válidos em 2026?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66360" cy="1078992"/>
          </a:xfrm>
          <a:prstGeom prst="roundRect">
            <a:avLst/>
          </a:prstGeom>
          <a:solidFill>
            <a:srgbClr val="13253A"/>
          </a:solidFill>
          <a:ln w="1397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87552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 - no diagnóstico qualitativo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87552" y="18288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Potência, temperatura e eficiência continuam limitando quanto do hardware pode trabalhar ao mesmo tempo.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6208" y="1234440"/>
            <a:ext cx="5212080" cy="1078992"/>
          </a:xfrm>
          <a:prstGeom prst="roundRect">
            <a:avLst/>
          </a:prstGeom>
          <a:solidFill>
            <a:srgbClr val="2A1C23"/>
          </a:solidFill>
          <a:ln w="13970">
            <a:solidFill>
              <a:srgbClr val="FF8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9224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30" b="1" dirty="0">
                <a:solidFill>
                  <a:srgbClr val="FF855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NÃO - como previsão numérica literal</a:t>
            </a:r>
            <a:endParaRPr lang="en-US" sz="183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Nós de processo, workloads e técnicas de projeto evoluíram; o próprio artigo já considerava o ITRS otimista.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761488"/>
            <a:ext cx="3154680" cy="2212848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Heterogeneidade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511296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Intel combina P-cores e E-cores para desempenho e performance/watt.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32688" y="4407408"/>
            <a:ext cx="2697480" cy="292608"/>
          </a:xfrm>
          <a:prstGeom prst="roundRect">
            <a:avLst/>
          </a:prstGeom>
          <a:solidFill>
            <a:srgbClr val="47D7FF">
              <a:alpha val="20000"/>
            </a:srgbClr>
          </a:solidFill>
          <a:ln w="10160">
            <a:solidFill>
              <a:srgbClr val="47D7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05840" y="447141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Intel - arquitetura híbrida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17136" y="2761488"/>
            <a:ext cx="3154680" cy="2212848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18304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65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Chiplets e cores densos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18304" y="3511296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AMD EPYC 9005 usa arquitetura chiplet e opções Zen 5 / Zen 5c.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718304" y="4407408"/>
            <a:ext cx="2697480" cy="292608"/>
          </a:xfrm>
          <a:prstGeom prst="roundRect">
            <a:avLst/>
          </a:prstGeom>
          <a:solidFill>
            <a:srgbClr val="FFB657">
              <a:alpha val="20000"/>
            </a:srgbClr>
          </a:solidFill>
          <a:ln w="10160">
            <a:solidFill>
              <a:srgbClr val="FFB65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791456" y="447141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65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AMD - EPYC 9005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02752" y="2761488"/>
            <a:ext cx="3154680" cy="2212848"/>
          </a:xfrm>
          <a:prstGeom prst="roundRect">
            <a:avLst/>
          </a:prstGeom>
          <a:solidFill>
            <a:srgbClr val="121A2D"/>
          </a:solidFill>
          <a:ln w="10160">
            <a:solidFill>
              <a:srgbClr val="2B36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503920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D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Especialização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3511296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Pesquisa de 2024 ainda trata aceleradores como caminho central na “dark silicon era”.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503920" y="4407408"/>
            <a:ext cx="2697480" cy="292608"/>
          </a:xfrm>
          <a:prstGeom prst="roundRect">
            <a:avLst/>
          </a:prstGeom>
          <a:solidFill>
            <a:srgbClr val="58D68D">
              <a:alpha val="20000"/>
            </a:srgbClr>
          </a:solidFill>
          <a:ln w="10160">
            <a:solidFill>
              <a:srgbClr val="58D68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577072" y="447141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D68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ICCAD 2024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25880" y="535838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Leitura atual: a indústria não “venceu” o dark silicon; aprendeu a projetar em torno dele.</a:t>
            </a:r>
            <a:endParaRPr lang="en-US" sz="17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SÍNTESE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Contribuição para Arquitetura de Computadores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41248" y="1325880"/>
            <a:ext cx="475488" cy="475488"/>
          </a:xfrm>
          <a:prstGeom prst="ellipse">
            <a:avLst/>
          </a:prstGeom>
          <a:solidFill>
            <a:srgbClr val="5A7DFF"/>
          </a:solidFill>
          <a:ln w="12700">
            <a:solidFill>
              <a:srgbClr val="5A7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41248" y="14538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307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Modelagem integrada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63440" y="1298448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Une tecnologia de fabricação, eficiência do core, organização multicore e workloads reais.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554480" y="2039112"/>
            <a:ext cx="9555480" cy="0"/>
          </a:xfrm>
          <a:prstGeom prst="line">
            <a:avLst/>
          </a:prstGeom>
          <a:noFill/>
          <a:ln w="1016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41248" y="2496312"/>
            <a:ext cx="475488" cy="475488"/>
          </a:xfrm>
          <a:prstGeom prst="ellipse">
            <a:avLst/>
          </a:prstGeom>
          <a:solidFill>
            <a:srgbClr val="FF855E"/>
          </a:solidFill>
          <a:ln w="12700">
            <a:solidFill>
              <a:srgbClr val="FF8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478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Novo recurso escasso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Mostra que potência e energia - não apenas área - limitam o aproveitamento dos transistores.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554480" y="3209544"/>
            <a:ext cx="9555480" cy="0"/>
          </a:xfrm>
          <a:prstGeom prst="line">
            <a:avLst/>
          </a:prstGeom>
          <a:noFill/>
          <a:ln w="1016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41248" y="3666744"/>
            <a:ext cx="475488" cy="475488"/>
          </a:xfrm>
          <a:prstGeom prst="ellipse">
            <a:avLst/>
          </a:prstGeom>
          <a:solidFill>
            <a:srgbClr val="58D68D"/>
          </a:solidFill>
          <a:ln w="12700">
            <a:solidFill>
              <a:srgbClr val="58D68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1248" y="37947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3648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Agenda de pesquisa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639312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A7B0C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Fortalece a busca por heterogeneidade, especialização, aceleradores e gerenciamento agressivo de energia.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1078992" y="4983480"/>
            <a:ext cx="10058400" cy="841248"/>
          </a:xfrm>
          <a:prstGeom prst="roundRect">
            <a:avLst/>
          </a:prstGeom>
          <a:solidFill>
            <a:srgbClr val="15223A"/>
          </a:solidFill>
          <a:ln w="12700">
            <a:solidFill>
              <a:srgbClr val="47D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53312" y="51846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Mensagem final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51297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“Mais transistores” só geram mais desempenho quando a arquitetura encontra uma forma energeticamente eficiente de usá-los.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FONTES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2618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7D7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[1]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325880" y="1243584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rgbClr val="F4F7FB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Esmaeilzadeh, Hadi, et al. "Dark silicon and the end of multicore scaling." IEEE micro 32.3 (2012): 122-134.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400800" y="6615684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30" dirty="0">
                <a:solidFill>
                  <a:srgbClr val="6F7A9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Fontes consultadas em set. 2026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F8AA3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754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Arimo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Silicon and the End of Multicore Scaling</dc:title>
  <dc:subject>Dark Silicon and the End of Multicore Scaling</dc:subject>
  <dc:creator>OpenAI</dc:creator>
  <cp:lastModifiedBy>Kaiky de Souza Lima</cp:lastModifiedBy>
  <cp:revision>5</cp:revision>
  <dcterms:created xsi:type="dcterms:W3CDTF">2026-09-07T14:37:52Z</dcterms:created>
  <dcterms:modified xsi:type="dcterms:W3CDTF">2026-09-08T20:17:18Z</dcterms:modified>
</cp:coreProperties>
</file>